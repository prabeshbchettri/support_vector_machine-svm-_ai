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APPLIED MACHINE LEARNING // SUPPORT VECTOR MACHINES</a:t>
            </a:r>
          </a:p>
          <a:p>
            <a:pPr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Kathmandu Valley Air Quality &amp;</a:t>
            </a:r>
            <a:br/>
            <a:r>
              <a:t>Atmospheric Inversion Risk Modeling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Mathematical Formulation, Domain Physics Engineering, and Real-World Validation</a:t>
            </a:r>
          </a:p>
          <a:p>
            <a:pPr>
              <a:defRPr sz="1300">
                <a:solidFill>
                  <a:srgbClr val="10B981"/>
                </a:solidFill>
              </a:defRPr>
            </a:pPr>
            <a:r>
              <a:t>Presenter: Subesh Yadav  |  Dataset: Kathmandu AQI (2022–2025) by Subesh Yadav 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EXECUTIVE SUMMARY //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Core objective, algorithm highlights, and final benchmark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60320" cy="16459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97.98%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Test Accuracy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Across 4,498 stratified test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60320" cy="16459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0B981"/>
                </a:solidFill>
              </a:defRPr>
            </a:pPr>
            <a:r>
              <a:t>0.9773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Macro F1-Score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Balanced evaluation over all 4 hazard tiers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560320" cy="16459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74519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97316"/>
                </a:solidFill>
              </a:defRPr>
            </a:pPr>
            <a:r>
              <a:t>100.0%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Ventilation Recall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Zero false negatives on active dispersion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737360"/>
            <a:ext cx="2560320" cy="16459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74519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22,489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Hourly Records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Continuous 2022–2025 Kathmandu dataset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10725912" cy="25603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Engineering Takeaways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3327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b="0" sz="1250">
                <a:solidFill>
                  <a:srgbClr val="F8FAFC"/>
                </a:solidFill>
              </a:defRPr>
            </a:pPr>
            <a:r>
              <a:t>• Physics-Aware Feature Engineering: Engineered Dew Point Deficit, Wind Shear, and Ventilation Index to reflect valley boundary layer physics.</a:t>
            </a:r>
          </a:p>
          <a:p>
            <a:pPr>
              <a:spcAft>
                <a:spcPts val="800"/>
              </a:spcAft>
              <a:defRPr b="0" sz="1250">
                <a:solidFill>
                  <a:srgbClr val="F8FAFC"/>
                </a:solidFill>
              </a:defRPr>
            </a:pPr>
            <a:r>
              <a:t>• Multi-Class Imbalance Solved: Overcame a severe 100:1 class imbalance using cost-sensitive balanced loss weighting.</a:t>
            </a:r>
          </a:p>
          <a:p>
            <a:pPr>
              <a:spcAft>
                <a:spcPts val="800"/>
              </a:spcAft>
              <a:defRPr b="0" sz="1250">
                <a:solidFill>
                  <a:srgbClr val="F8FAFC"/>
                </a:solidFill>
              </a:defRPr>
            </a:pPr>
            <a:r>
              <a:t>• Empirical Multi-Kernel Benchmark: Demonstrated that the non-linear Gaussian RBF kernel outperforms Linear and Polynomial models by +3.18%.</a:t>
            </a:r>
          </a:p>
          <a:p>
            <a:pPr>
              <a:spcAft>
                <a:spcPts val="800"/>
              </a:spcAft>
              <a:defRPr b="0" sz="1250">
                <a:solidFill>
                  <a:srgbClr val="F8FAFC"/>
                </a:solidFill>
              </a:defRPr>
            </a:pPr>
            <a:r>
              <a:t>• Live Internet Generalization: Achieved 100% accuracy over 72 live hours in Kathmandu and validated on Santiago, Chile's twin valley basin.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THEORETICAL FOUNDATION // 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Understanding Support Vector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The Maximum Margin Principle and why it outperforms standard linear classifiers.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Core Philosophy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300">
                <a:solidFill>
                  <a:srgbClr val="38BDF8"/>
                </a:solidFill>
              </a:defRPr>
            </a:pPr>
            <a:r>
              <a:t>1. Decision Boundary &amp; Hyperplane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SVM classifies data by constructing a hyperplane that divides classes with the largest possible margin buffer distance.</a:t>
            </a:r>
          </a:p>
          <a:p>
            <a:pPr>
              <a:spcBef>
                <a:spcPts val="800"/>
              </a:spcBef>
              <a:defRPr b="1" sz="1300">
                <a:solidFill>
                  <a:srgbClr val="38BDF8"/>
                </a:solidFill>
              </a:defRPr>
            </a:pPr>
            <a:r>
              <a:t>2. Beyond Logistic Regression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Logistic regression and perceptrons find any separating line. SVM mathematically guarantees finding the optimal, unique line.</a:t>
            </a:r>
          </a:p>
          <a:p>
            <a:pPr>
              <a:spcBef>
                <a:spcPts val="800"/>
              </a:spcBef>
              <a:defRPr b="1" sz="1300">
                <a:solidFill>
                  <a:srgbClr val="38BDF8"/>
                </a:solidFill>
              </a:defRPr>
            </a:pPr>
            <a:r>
              <a:t>3. Geometric Margin Definition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The margin width equals 2 / ||w||. Maximizing this distance minimizes structural risk (Vapnik-Chervonenkis dimension).</a:t>
            </a:r>
          </a:p>
          <a:p>
            <a:pPr>
              <a:spcBef>
                <a:spcPts val="800"/>
              </a:spcBef>
              <a:defRPr b="1" sz="1300">
                <a:solidFill>
                  <a:srgbClr val="38BDF8"/>
                </a:solidFill>
              </a:defRPr>
            </a:pPr>
            <a:r>
              <a:t>4. Sparsity &amp; Support Vectors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Only the nearest data points on the margin boundary determine the decision line. Removing distant points has zero effect.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3951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73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Visual Comparison: Generic vs SVM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300">
                <a:solidFill>
                  <a:srgbClr val="10B981"/>
                </a:solidFill>
              </a:defRPr>
            </a:pPr>
            <a:r>
              <a:t>Generic Linear Classifiers (Perceptron/Logistic):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Finds any line that has zero classification errors.</a:t>
            </a:r>
            <a:br/>
            <a:r>
              <a:t>• Often passes dangerously close to training points.</a:t>
            </a:r>
            <a:br/>
            <a:r>
              <a:t>• Vulnerable to noise and poor on unseen test data.</a:t>
            </a:r>
          </a:p>
          <a:p>
            <a:pPr>
              <a:spcBef>
                <a:spcPts val="1200"/>
              </a:spcBef>
              <a:defRPr b="1" sz="1300">
                <a:solidFill>
                  <a:srgbClr val="10B981"/>
                </a:solidFill>
              </a:defRPr>
            </a:pPr>
            <a:r>
              <a:t>Support Vector Machine (Optimal Margin):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Maximizes the clearance distance (margin tube) on both sides.</a:t>
            </a:r>
            <a:br/>
            <a:r>
              <a:t>• Supported by Mercer's theorem and dual convex optimization.</a:t>
            </a:r>
            <a:br/>
            <a:r>
              <a:t>• Provably minimizes the upper bound on generalization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MATHEMATICAL FORMULATION // 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Hard Margin vs. Soft Margin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Mathematical formulation of soft-margin loss and slack variables.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Hard Margin (Idealized)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Separation Rule: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w^T x + b = 0  =&gt;  Decision: sign(w^T x + b)</a:t>
            </a:r>
          </a:p>
          <a:p>
            <a:br/>
            <a:pPr>
              <a:defRPr b="1" sz="1300">
                <a:solidFill>
                  <a:srgbClr val="F8FAFC"/>
                </a:solidFill>
              </a:defRPr>
            </a:pPr>
            <a:r>
              <a:t>Primal Objective: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min (1/2) ||w||^2</a:t>
            </a:r>
            <a:br/>
            <a:r>
              <a:t>subject to:  y_i * (w^T x_i + b) &gt;= 1  for all i</a:t>
            </a:r>
          </a:p>
          <a:p>
            <a:br/>
            <a:pPr>
              <a:defRPr b="1" sz="1300">
                <a:solidFill>
                  <a:srgbClr val="F97316"/>
                </a:solidFill>
              </a:defRPr>
            </a:pPr>
            <a:r>
              <a:t>Limitation in Real World: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If atmospheric classes overlap due to turbulence, hard margin is infeasible (no solution exists).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3951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73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Soft Margin (Real-World With Slack)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FAFC"/>
                </a:solidFill>
              </a:defRPr>
            </a:pPr>
            <a:r>
              <a:t>Introducing Slack Variables (ξ_i &gt;= 0):</a:t>
            </a:r>
          </a:p>
          <a:p>
            <a:pPr>
              <a:defRPr sz="1200">
                <a:solidFill>
                  <a:srgbClr val="10B981"/>
                </a:solidFill>
              </a:defRPr>
            </a:pPr>
            <a:r>
              <a:t>min (1/2) ||w||^2 + C * Σ ξ_i</a:t>
            </a:r>
            <a:br/>
            <a:r>
              <a:t>subject to:  y_i * (w^T x_i + b) &gt;= 1 - ξ_i,  ξ_i &gt;= 0</a:t>
            </a:r>
          </a:p>
          <a:p>
            <a:br/>
            <a:pPr>
              <a:defRPr b="1" sz="1300">
                <a:solidFill>
                  <a:srgbClr val="F8FAFC"/>
                </a:solidFill>
              </a:defRPr>
            </a:pPr>
            <a:r>
              <a:t>The Role of Hyperparameter C: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Large C (e.g. C=100): Heavy penalty for errors. Narrower margin, strict classification.</a:t>
            </a:r>
            <a:br/>
            <a:r>
              <a:t>• Small C (e.g. C=1): Soft penalty. Wider margin, higher noise tolerance.</a:t>
            </a:r>
            <a:br/>
            <a:r>
              <a:t>• Our project tuned C=100.0 via GridSearchCV for optimal boundary precision.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NON-LINEAR TRANSFORMATION // 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Non-Linear Kernel Trick &amp; Dual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SVM projects complex weather manifolds into higher dimensions.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Mercer's Theorem &amp; The Kernel Trick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50">
                <a:solidFill>
                  <a:srgbClr val="38BDF8"/>
                </a:solidFill>
              </a:defRPr>
            </a:pPr>
            <a:r>
              <a:t>1. The Non-Linear Dilemma: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Atmospheric inversions depend on complex interactions (e.g. cold temp AND high humidity AND low wind). No single flat plane can separate them in raw 2D.</a:t>
            </a:r>
          </a:p>
          <a:p>
            <a:pPr>
              <a:spcBef>
                <a:spcPts val="600"/>
              </a:spcBef>
              <a:defRPr b="1" sz="1250">
                <a:solidFill>
                  <a:srgbClr val="38BDF8"/>
                </a:solidFill>
              </a:defRPr>
            </a:pPr>
            <a:r>
              <a:t>2. Projection to Hilbert Space (H):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We map x -&gt; φ(x) into an expanded space where the data becomes linearly separable.</a:t>
            </a:r>
          </a:p>
          <a:p>
            <a:pPr>
              <a:spcBef>
                <a:spcPts val="600"/>
              </a:spcBef>
              <a:defRPr b="1" sz="1250">
                <a:solidFill>
                  <a:srgbClr val="38BDF8"/>
                </a:solidFill>
              </a:defRPr>
            </a:pPr>
            <a:r>
              <a:t>3. Computational Miracle (Mercer's Theorem):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Computing φ(x) explicitly in infinite dimensions is impossible. Instead, we only calculate inner products:</a:t>
            </a:r>
            <a:br/>
            <a:r>
              <a:t>K(x_i, x_j) = &lt;φ(x_i), φ(x_j)&gt;</a:t>
            </a:r>
          </a:p>
          <a:p>
            <a:pPr>
              <a:spcBef>
                <a:spcPts val="600"/>
              </a:spcBef>
              <a:defRPr b="1" sz="1250">
                <a:solidFill>
                  <a:srgbClr val="38BDF8"/>
                </a:solidFill>
              </a:defRPr>
            </a:pPr>
            <a:r>
              <a:t>4. O(N) Efficiency: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All calculations occur in the original feature space via the kernel function!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3951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73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Dual Formulation &amp; Support Vectors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50">
                <a:solidFill>
                  <a:srgbClr val="10B981"/>
                </a:solidFill>
              </a:defRPr>
            </a:pPr>
            <a:r>
              <a:t>Lagrangian Dual Problem: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max Σ α_i - (1/2) Σ Σ α_i α_j y_i y_j K(x_i, x_j)</a:t>
            </a:r>
            <a:br/>
            <a:r>
              <a:t>subject to:  0 &lt;= α_i &lt;= C,  and  Σ α_i y_i = 0</a:t>
            </a:r>
          </a:p>
          <a:p>
            <a:pPr>
              <a:spcBef>
                <a:spcPts val="800"/>
              </a:spcBef>
              <a:defRPr b="1" sz="1250">
                <a:solidFill>
                  <a:srgbClr val="10B981"/>
                </a:solidFill>
              </a:defRPr>
            </a:pPr>
            <a:r>
              <a:t>Karush-Kuhn-Tucker (KKT) Conditions: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Non-Support Vectors:  α_i = 0  (Points far from boundary)</a:t>
            </a:r>
            <a:br/>
            <a:r>
              <a:t>• Free Support Vectors:  0 &lt; α_i &lt; C  (Points exactly on margin)</a:t>
            </a:r>
            <a:br/>
            <a:r>
              <a:t>• Bounded Support Vectors:  α_i = C  (Points inside margin / errors)</a:t>
            </a:r>
          </a:p>
          <a:p>
            <a:pPr>
              <a:spcBef>
                <a:spcPts val="800"/>
              </a:spcBef>
              <a:defRPr b="1" sz="1250">
                <a:solidFill>
                  <a:srgbClr val="10B981"/>
                </a:solidFill>
              </a:defRPr>
            </a:pPr>
            <a:r>
              <a:t>Final Decision Function: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f(x) = sign( Σ [α_i * y_i * K(x_i, x)] + b 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MATHEMATICAL COMPARISON // SLIDE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4 Primary SVM Kernels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Mathematical formulas and empirical trade-offs between kernels.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743200"/>
                <a:gridCol w="3044952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Kernel Name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Mathematical Formula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Geometry / Behavior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Atmospheric Suitability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Linear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K(x, z) = x^T z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Flat hyperplane in original space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Fast but limited on non-linear inversion regimes.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Polynomial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K(x, z) = (γ x^T z + r)^d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Curves of degree 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Captures polynomial curvature but high boundary variance.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Gaussian RBF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K(x, z) = exp(-γ ||x - z||^2)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Infinite-dimensional radial Gaussian bells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BEST. Separates complex mountain atmospheric boundaries.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Sigmoid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K(x, z) = tanh(γ x^T z + r)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Hyperbolic tangent S-curve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Unstable on tabular weather data; poor convergence.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REAL-WORLD PROBLEM // SLIDE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Kathmandu Valley Topography &amp; Inversion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Why air pollution accumulates dangerously in Kathmandu.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Geographical Trap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50">
                <a:solidFill>
                  <a:srgbClr val="38BDF8"/>
                </a:solidFill>
              </a:defRPr>
            </a:pPr>
            <a:r>
              <a:t>1. Bowl Basin Topography: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Kathmandu sits at ~1,400m surrounded by high mountain ridges (2,000m - 2,800m). Horizontal ventilation is blocked naturally.</a:t>
            </a:r>
          </a:p>
          <a:p>
            <a:pPr>
              <a:spcBef>
                <a:spcPts val="600"/>
              </a:spcBef>
              <a:defRPr b="1" sz="1250">
                <a:solidFill>
                  <a:srgbClr val="38BDF8"/>
                </a:solidFill>
              </a:defRPr>
            </a:pPr>
            <a:r>
              <a:t>2. Winter Radiation Inversion: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At night, rapid ground radiation cools surface air. A warm air layer sits on top, forming a physical 'lid' capping the valley.</a:t>
            </a:r>
          </a:p>
          <a:p>
            <a:pPr>
              <a:spcBef>
                <a:spcPts val="600"/>
              </a:spcBef>
              <a:defRPr b="1" sz="1250">
                <a:solidFill>
                  <a:srgbClr val="38BDF8"/>
                </a:solidFill>
              </a:defRPr>
            </a:pPr>
            <a:r>
              <a:t>3. Smog Condensation Trigger: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Cold temperature combined with humidity &gt; 75% causes hygroscopic particle growth, trapping dense toxic winter smog.</a:t>
            </a:r>
          </a:p>
          <a:p>
            <a:pPr>
              <a:spcBef>
                <a:spcPts val="600"/>
              </a:spcBef>
              <a:defRPr b="1" sz="1250">
                <a:solidFill>
                  <a:srgbClr val="38BDF8"/>
                </a:solidFill>
              </a:defRPr>
            </a:pPr>
            <a:r>
              <a:t>4. Why Ground Sensors Are Too Late: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Ground PM2.5 monitors only register poison after citizens have already breathed it. We need predictive atmospheric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3951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73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Target Atmospheric Risk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300">
                <a:solidFill>
                  <a:srgbClr val="F8FAFC"/>
                </a:solidFill>
              </a:defRPr>
            </a:pPr>
            <a:r>
              <a:t>🟣 Hazardous Inversion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Cold morning trap (T &lt;= 15°C, RH &gt;= 75%, Wind &lt;= 4 km/h). Toxic smog trapped at breathing level.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🔴 High Stagnation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Calm surface winds (&lt;= 6 km/h). Particulates accumulate without dispersion.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🟡 Moderate Dispersion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Standard valley ventilation (6 - 12 km/h). Baseline atmospheric transport.</a:t>
            </a:r>
          </a:p>
          <a:p>
            <a:pPr>
              <a:spcBef>
                <a:spcPts val="800"/>
              </a:spcBef>
              <a:defRPr b="1" sz="1300">
                <a:solidFill>
                  <a:srgbClr val="F8FAFC"/>
                </a:solidFill>
              </a:defRPr>
            </a:pPr>
            <a:r>
              <a:t>🟢 Good Ventilation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Active clearing winds (&gt;= 12 km/h or strong convective mixing).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FEATURE ENGINEERING // SLIDE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Step-by-Step Atmospheric Physics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boundary-layer physics transformations boosted accuracy to 97.98%.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1. Cyclical Harmonic Encodings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Sin/Cos projections for hours (24h) and months (12m) to remove midnight/year artificial discontinuities.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37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2. Dew Point Deficit (ΔTd)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(100 - RH) / 5 in °C. Low values (&lt; 3°C) quantify near-saturation fog/smog condensation triggers.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737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97316"/>
                </a:solidFill>
              </a:defRPr>
            </a:pPr>
            <a:r>
              <a:t>3. Vertical Wind Shear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Wind_100m - Wind_10m. Measures vertical boundary turbulence and eddy dispersion.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4. Ventilation Index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Wind_10m * (Wind_100m + 0.1). Quantifies combined horizontal and vertical valley clearing volume.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4023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206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0B981"/>
                </a:solidFill>
              </a:defRPr>
            </a:pPr>
            <a:r>
              <a:t>5. Stability Gradient Proxy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(T - Apparent_T) / (Wind_10m + 1.0). Captures stratification resisting vertical convective mixing.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023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4206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F97316"/>
                </a:solidFill>
              </a:defRPr>
            </a:pPr>
            <a:r>
              <a:t>6. Soil Moisture Column Ratio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Surface vs Deep moisture index regulating evening radiative cooling and ground heat flux.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EMPIRICAL RESULTS // SLIDE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Multi-Kernel Performance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Comparative evaluation across 4,498 held-out test observations.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591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011680"/>
                <a:gridCol w="2770632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SVM Kernel Model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Macro F1-Score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Weighted F1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Observation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Linear SVC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94.80%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0.8920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0.9450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Struggles with non-linear inversion gates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Polynomial (deg=3)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95.30%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0.9150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0.9510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Higher boundary variance near edges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Standard RBF (C=10)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97.09%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0.9640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0.9700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Strong non-linear separation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Physics-Aware RBF (Ours)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97.98%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0.9773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0.9801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BEST. 100% Recall on ventilation.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725912" cy="164592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601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Performance Insights for Sir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150">
                <a:solidFill>
                  <a:srgbClr val="F8FAFC"/>
                </a:solidFill>
              </a:defRPr>
            </a:pPr>
            <a:r>
              <a:t>• +3.18% Accuracy Improvement: Non-linear RBF outperforms Linear SVC, proving the valley air transition boundary is highly non-linear.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+0.0853 Macro F1 Boost: Cost-sensitive balanced loss prevented majority class collapse on the rare 0.67% ventilation tier.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• Minimal Generalization Gap: Train (98.6%) vs Test (97.9%) proves the model has not overfitted.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DETAILED EVALUATION //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Test Classification Report &amp; Safety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Evaluating minority class sensitivity and safety recall on toxic smog traps.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Per-Class Precision &amp; Recall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2286000"/>
          <a:ext cx="4846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914400"/>
                <a:gridCol w="1005840"/>
              </a:tblGrid>
              <a:tr h="69494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Class Name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Good Ventilation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0B981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Hazardous Inversion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0.8838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0.9908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0.9343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High Stagnation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0.9959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0.9758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0.9857</a:t>
                      </a:r>
                    </a:p>
                  </a:txBody>
                  <a:tcPr>
                    <a:solidFill>
                      <a:srgbClr val="12192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8FAFC"/>
                          </a:solidFill>
                        </a:defRPr>
                      </a:pPr>
                      <a:r>
                        <a:t>Moderate Dispersion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0.9901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0.9887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0.9894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737360"/>
            <a:ext cx="523951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73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Public Safety &amp; Error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b="1" sz="1250">
                <a:solidFill>
                  <a:srgbClr val="10B981"/>
                </a:solidFill>
              </a:defRPr>
            </a:pPr>
            <a:r>
              <a:t>1. Critical Life-Safety Metric: 99.08% Recall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On Hazardous Inversion, the model achieves 99.08% recall (540 / 545). It almost never produces dangerous False Negatives.</a:t>
            </a:r>
          </a:p>
          <a:p>
            <a:pPr>
              <a:spcBef>
                <a:spcPts val="800"/>
              </a:spcBef>
              <a:defRPr b="1" sz="1250">
                <a:solidFill>
                  <a:srgbClr val="10B981"/>
                </a:solidFill>
              </a:defRPr>
            </a:pPr>
            <a:r>
              <a:t>2. Perfect Minority Classification: 1.0000 F1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Even though Good Ventilation represents only 0.67% of the dataset, it achieved zero false positives and zero false negatives.</a:t>
            </a:r>
          </a:p>
          <a:p>
            <a:pPr>
              <a:spcBef>
                <a:spcPts val="800"/>
              </a:spcBef>
              <a:defRPr b="1" sz="1250">
                <a:solidFill>
                  <a:srgbClr val="10B981"/>
                </a:solidFill>
              </a:defRPr>
            </a:pPr>
            <a:r>
              <a:t>3. Confusion Distribution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Minor misclassifications occur only between adjacent boundary regimes (e.g. High Stagnation vs Moderate Dispersion) where wind fluctuates near the 6 km/h boundary.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GENERALIZATION PROOF //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Real-World Validation on 2026 Internet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Testing the model on live Open-Meteo API data across Kathmandu and global cities.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5643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Kathmandu 72h Live Stream</a:t>
            </a:r>
          </a:p>
          <a:p>
            <a:pPr>
              <a:spcAft>
                <a:spcPts val="1200"/>
              </a:spcAft>
              <a:defRPr b="1" sz="2200">
                <a:solidFill>
                  <a:srgbClr val="10B981"/>
                </a:solidFill>
              </a:defRPr>
            </a:pPr>
            <a:r>
              <a:t>100.0% Accuracy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72 / 72 hours matching ground truth live (Sept 1-3, 2026). Average confidence: 99.8%.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Why this matters: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Proves model learns universal atmospheric boundary layer physics rather than memorizing historical dataset rows.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37360"/>
            <a:ext cx="345643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2024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Unseen 2026 Winter Stream</a:t>
            </a:r>
          </a:p>
          <a:p>
            <a:pPr>
              <a:spcAft>
                <a:spcPts val="1200"/>
              </a:spcAft>
              <a:defRPr b="1" sz="2200">
                <a:solidFill>
                  <a:srgbClr val="38BDF8"/>
                </a:solidFill>
              </a:defRPr>
            </a:pPr>
            <a:r>
              <a:t>94.20% Accuracy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1,416 real hourly observations from Jan-Feb 2026 outside training window.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Why this matters: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Proves model learns universal atmospheric boundary layer physics rather than memorizing historical dataset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737360"/>
            <a:ext cx="345643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920240"/>
            <a:ext cx="30906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8FAFC"/>
                </a:solidFill>
              </a:defRPr>
            </a:pPr>
            <a:r>
              <a:t>Twin Valley Basin (Santiago)</a:t>
            </a:r>
          </a:p>
          <a:p>
            <a:pPr>
              <a:spcAft>
                <a:spcPts val="1200"/>
              </a:spcAft>
              <a:defRPr b="1" sz="2200">
                <a:solidFill>
                  <a:srgbClr val="F97316"/>
                </a:solidFill>
              </a:defRPr>
            </a:pPr>
            <a:r>
              <a:t>Hazardous Inversion</a:t>
            </a:r>
          </a:p>
          <a:p>
            <a:pPr>
              <a:spcAft>
                <a:spcPts val="1200"/>
              </a:spcAft>
              <a:defRPr sz="1150">
                <a:solidFill>
                  <a:srgbClr val="94A3B8"/>
                </a:solidFill>
              </a:defRPr>
            </a:pPr>
            <a:r>
              <a:t>Correctly identified morning smog trap (90.7% conf) in Andes mountain valley.</a:t>
            </a:r>
          </a:p>
          <a:p>
            <a:pPr>
              <a:defRPr b="1" sz="1150">
                <a:solidFill>
                  <a:srgbClr val="F8FAFC"/>
                </a:solidFill>
              </a:defRPr>
            </a:pPr>
            <a:r>
              <a:t>Why this matters: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Proves model learns universal atmospheric boundary layer physics rather than memorizing historical dataset 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INTERACTIVE STUDIO //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Interactive Streamlit Studio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Accessible at http://localhost:8501 for live testing and visual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🎯 Real-Time Predictor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Sliders for temperature, humidity, wind vectors, and time with instant risk tier classification and health advisories.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37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📐 Hyperplane Visualizer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Interactive 2D decision boundary with separating hyperplane (w^T φ(x) + b = 0), margin lines, and circled support vectors.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737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920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🧊 3D Decision Surface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Interactive Plotly 3D decision manifold cut by the z=0 decision plane.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🌐 Live Internet Stream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1-click live fetch from Open-Meteo API with continuous timeline risk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4023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206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📊 Kernel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Side-by-side empirical accuracy and confusion matrix comparisons.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023360"/>
            <a:ext cx="3456432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420624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38BDF8"/>
                </a:solidFill>
              </a:defRPr>
            </a:pPr>
            <a:r>
              <a:t>📂 Batch CSV Evaluation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Batch processing of custom weather files with downloadable predictions.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CIVIC APPLICATION // 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Practical Real-World Public Health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How this AI system creates actionable value for Kathmandu.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50">
                <a:solidFill>
                  <a:srgbClr val="10B981"/>
                </a:solidFill>
              </a:defRPr>
            </a:pPr>
            <a:r>
              <a:t>🏛️ Municipal Action (KMC)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When Hazardous Inversion is predicted, temporarily restrict heavy diesel freight trucks from entering Ring Road during morning hours (6am-10am); halt road paving and brick kiln firing.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37360"/>
            <a:ext cx="5257800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92024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50">
                <a:solidFill>
                  <a:srgbClr val="10B981"/>
                </a:solidFill>
              </a:defRPr>
            </a:pPr>
            <a:r>
              <a:t>🏥 Hospital &amp; School Protection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Alert pulmonary clinics for asthma/COPD surges; instruct schools to move morning assemblies indoors and notify commuters to wear N95/FFP2 masks.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57800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50">
                <a:solidFill>
                  <a:srgbClr val="10B981"/>
                </a:solidFill>
              </a:defRPr>
            </a:pPr>
            <a:r>
              <a:t>✈️ Aviation Operations (TIA)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Tribhuvan International Airport experiences major flight delays due to smog traps. Predicting inversion dissipation helps airlines plan fuel reserves and flight schedules.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023360"/>
            <a:ext cx="5257800" cy="20116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8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420624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50">
                <a:solidFill>
                  <a:srgbClr val="10B981"/>
                </a:solidFill>
              </a:defRPr>
            </a:pPr>
            <a:r>
              <a:t>💰 100x Cost Reduction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Standard BAM-1020 air monitors cost $30,000+ each. This SVM model infers inversion risk using free, standard meteorological satellite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38BDF8"/>
                </a:solidFill>
              </a:defRPr>
            </a:pPr>
            <a:r>
              <a:t>CONCLUSION // SUMMARY</a:t>
            </a:r>
          </a:p>
          <a:p>
            <a:pPr>
              <a:spcAft>
                <a:spcPts val="1600"/>
              </a:spcAft>
              <a:defRPr b="1" sz="3200">
                <a:solidFill>
                  <a:srgbClr val="F8FAFC"/>
                </a:solidFill>
              </a:defRPr>
            </a:pPr>
            <a:r>
              <a:t>Key Project Takeaways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1. Mathematical Rigor: Demonstrated maximum margin optimization and non-linear RBF kernel trick from first principles.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2. Physics Feature Engineering: Engineered 6 atmospheric boundary layer indicators, raising accuracy to 97.98% and Macro F1 to 0.9773.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3. Imbalance Handling: Achieved 100% precision and recall on the 0.67% rare ventilation class.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4. Live Generalization: Verified on real-world Open-Meteo API data across 2026 and international valley basins.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5. Complete Delivery: Interactive Streamlit studio, academic Jupyter notebook, and serialized model bundle.</a:t>
            </a:r>
          </a:p>
          <a:p>
            <a:br/>
            <a:pPr>
              <a:defRPr b="1" sz="1800">
                <a:solidFill>
                  <a:srgbClr val="10B981"/>
                </a:solidFill>
              </a:defRPr>
            </a:pPr>
            <a:r>
              <a:t>Thank you! Open for Questions from Sir.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